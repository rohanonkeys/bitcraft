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4" r:id="rId6"/>
    <p:sldId id="299" r:id="rId7"/>
    <p:sldId id="296" r:id="rId8"/>
    <p:sldId id="298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 snapToObjects="1">
      <p:cViewPr varScale="1">
        <p:scale>
          <a:sx n="85" d="100"/>
          <a:sy n="85" d="100"/>
        </p:scale>
        <p:origin x="56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E67D-3CFA-F774-CC91-AB82533D3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7A35C00-D643-01B8-DDBE-C0F42C5620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D3C8DA1E-604B-281C-64AE-02F64520EF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A1BC188C-4B88-116C-22D8-AE20210EF8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4904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ypi.org/project/bitcraft" TargetMode="External"/><Relationship Id="rId5" Type="http://schemas.openxmlformats.org/officeDocument/2006/relationships/hyperlink" Target="https://github.com/RohanOnKeys/bitcraft" TargetMode="External"/><Relationship Id="rId4" Type="http://schemas.openxmlformats.org/officeDocument/2006/relationships/hyperlink" Target="https://youtu.be/RtBhYRXpPeg?si=GVh9zHKuAgrvfE90" TargetMode="External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760985" y="1138786"/>
            <a:ext cx="8534400" cy="586716"/>
          </a:xfrm>
        </p:spPr>
        <p:txBody>
          <a:bodyPr/>
          <a:lstStyle/>
          <a:p>
            <a:r>
              <a:rPr lang="en-US" sz="2400" b="1" dirty="0" err="1">
                <a:solidFill>
                  <a:srgbClr val="12284C"/>
                </a:solidFill>
                <a:latin typeface="Times New Roman"/>
              </a:rPr>
              <a:t>BitCraft</a:t>
            </a:r>
            <a:r>
              <a:rPr lang="en-US" sz="2400" b="1" dirty="0">
                <a:solidFill>
                  <a:srgbClr val="12284C"/>
                </a:solidFill>
                <a:latin typeface="Times New Roman"/>
              </a:rPr>
              <a:t> – Offline AI for Bitcoin Transaction Intelligence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14337" y="-526758"/>
            <a:ext cx="10084886" cy="210518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5756" y="1717168"/>
            <a:ext cx="6462325" cy="45827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SIH26146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AI-Powered Monitoring &amp; Analysis of Bitcoin Transaction Traffic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192760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BitCraft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_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2CBB60-C48C-37DB-C160-19BE0372C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42877" y="1111910"/>
            <a:ext cx="5818111" cy="4971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just"/>
            <a:r>
              <a:rPr lang="en-US" b="1" dirty="0"/>
              <a:t>Proposed Solution:</a:t>
            </a:r>
          </a:p>
          <a:p>
            <a:pPr algn="just"/>
            <a:endParaRPr lang="en-US" sz="5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Ingest offline: </a:t>
            </a:r>
            <a:r>
              <a:rPr lang="en-US" dirty="0"/>
              <a:t>bulk transaction and network metadata (CSV, JSON, JSONL, XML) with per-row validation and reject reasons.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Enrich: </a:t>
            </a:r>
            <a:r>
              <a:rPr lang="en-US" dirty="0"/>
              <a:t>offline </a:t>
            </a:r>
            <a:r>
              <a:rPr lang="en-US" dirty="0" err="1"/>
              <a:t>GeoIP</a:t>
            </a:r>
            <a:r>
              <a:rPr lang="en-US" dirty="0"/>
              <a:t> country, ASN and </a:t>
            </a:r>
            <a:r>
              <a:rPr lang="en-US" dirty="0" err="1"/>
              <a:t>organisation</a:t>
            </a:r>
            <a:r>
              <a:rPr lang="en-US" dirty="0"/>
              <a:t> (DB-IP Lite), with Tor-exit and hosting flags.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Link and cluster: </a:t>
            </a:r>
            <a:r>
              <a:rPr lang="en-US" dirty="0"/>
              <a:t>entity graph of IPs, wallets and transactions; wallet clustering by common-input-ownership; Louvain communities.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Detect: </a:t>
            </a:r>
            <a:r>
              <a:rPr lang="en-US" dirty="0"/>
              <a:t>supervised risk model, metadata model and Isolation Forest fused into one composite score.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Explain: </a:t>
            </a:r>
            <a:r>
              <a:rPr lang="en-US" dirty="0"/>
              <a:t>ranked transaction and wallet alerts with confidence score, SHAP reasons and evidence tagged real or modeled. Missing network data shows n/a, never low risk.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/>
              <a:t>Investigate: </a:t>
            </a:r>
            <a:r>
              <a:rPr lang="en-US" dirty="0"/>
              <a:t>terminal dashboard with link analysis, threat overview, graph explorer and wallets. Install with one command: </a:t>
            </a:r>
            <a:r>
              <a:rPr lang="en-US" b="1" dirty="0" err="1"/>
              <a:t>pipx</a:t>
            </a:r>
            <a:r>
              <a:rPr lang="en-US" b="1" dirty="0"/>
              <a:t> install </a:t>
            </a:r>
            <a:r>
              <a:rPr lang="en-US" b="1" dirty="0" err="1"/>
              <a:t>bitcraft</a:t>
            </a:r>
            <a:r>
              <a:rPr lang="en-US" b="1" dirty="0"/>
              <a:t>.</a:t>
            </a:r>
          </a:p>
          <a:p>
            <a:pPr algn="just"/>
            <a:endParaRPr lang="en-US" sz="17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5371" name="Document 15370"/>
          <p:cNvSpPr/>
          <p:nvPr/>
        </p:nvSpPr>
        <p:spPr>
          <a:xfrm>
            <a:off x="5948998" y="4136063"/>
            <a:ext cx="294802" cy="294802"/>
          </a:xfrm>
          <a:prstGeom prst="flowChartDocumen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4ADCDC-AEB1-9A24-3BCE-3661B4E7C4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4EA071-F2BF-8C74-AA04-7357057C612B}"/>
              </a:ext>
            </a:extLst>
          </p:cNvPr>
          <p:cNvSpPr txBox="1"/>
          <p:nvPr/>
        </p:nvSpPr>
        <p:spPr>
          <a:xfrm>
            <a:off x="4511200" y="313615"/>
            <a:ext cx="422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DC730-B358-CA6F-45CE-BCAF78FF4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979" y="1165699"/>
            <a:ext cx="5856957" cy="5138962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BitCraft</a:t>
            </a:r>
            <a:r>
              <a:rPr lang="en-US" sz="1500" dirty="0"/>
              <a:t>_</a:t>
            </a:r>
            <a:endParaRPr lang="en-IN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7412" name="Data 17411"/>
          <p:cNvSpPr/>
          <p:nvPr/>
        </p:nvSpPr>
        <p:spPr>
          <a:xfrm>
            <a:off x="3835200" y="4021800"/>
            <a:ext cx="336400" cy="336400"/>
          </a:xfrm>
          <a:prstGeom prst="flowChartInputOutpu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Can 17417"/>
          <p:cNvSpPr/>
          <p:nvPr/>
        </p:nvSpPr>
        <p:spPr>
          <a:xfrm>
            <a:off x="6391200" y="4860200"/>
            <a:ext cx="359600" cy="359600"/>
          </a:xfrm>
          <a:prstGeom prst="can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06811F-56BF-26E8-E7C4-B3F33514F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8285" y="108591"/>
            <a:ext cx="2249850" cy="106233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AA706D9-9F11-836B-1C94-72F552E6E9D8}"/>
              </a:ext>
            </a:extLst>
          </p:cNvPr>
          <p:cNvSpPr txBox="1"/>
          <p:nvPr/>
        </p:nvSpPr>
        <p:spPr>
          <a:xfrm>
            <a:off x="164064" y="5227686"/>
            <a:ext cx="6992041" cy="1015663"/>
          </a:xfrm>
          <a:prstGeom prst="rect">
            <a:avLst/>
          </a:prstGeom>
          <a:ln w="127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500" b="1" u="sng" dirty="0"/>
              <a:t>Links: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500" b="1" dirty="0"/>
              <a:t>Demo Video (YouTube) : </a:t>
            </a:r>
            <a:r>
              <a:rPr lang="en-US" sz="1500" dirty="0">
                <a:solidFill>
                  <a:srgbClr val="0070C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https://youtu.be/RtBhYRXpPeg?si=GVh9zHKuAgrvfE90</a:t>
            </a:r>
            <a:endParaRPr lang="en-US" sz="1500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500" b="1" dirty="0"/>
              <a:t>Code Repo (GitHub) : </a:t>
            </a:r>
            <a:r>
              <a:rPr lang="en-US" sz="1500" dirty="0">
                <a:solidFill>
                  <a:srgbClr val="0070C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https://github.com/RohanOnKeys/bitcraft</a:t>
            </a:r>
            <a:endParaRPr lang="en-US" sz="1500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1500" b="1" dirty="0" err="1"/>
              <a:t>pypi</a:t>
            </a:r>
            <a:r>
              <a:rPr lang="en-US" sz="1500" b="1" dirty="0"/>
              <a:t> package (published) : </a:t>
            </a:r>
            <a:r>
              <a:rPr lang="en-US" sz="1500" dirty="0">
                <a:solidFill>
                  <a:srgbClr val="0070C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https://pypi.org/project/bitcraft</a:t>
            </a:r>
            <a:endParaRPr lang="en-US" sz="1500" b="1" dirty="0">
              <a:solidFill>
                <a:srgbClr val="0070C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91D062-E6E7-4989-5EC2-2DECA89A0B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2909" y="3712480"/>
            <a:ext cx="4765226" cy="25423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3B26E6-8580-9582-6F50-D6C7336BE8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5445" y="1182184"/>
            <a:ext cx="4762689" cy="24895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6542FC-49D3-25FB-4CCC-29435904107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4064" y="1164254"/>
            <a:ext cx="6992041" cy="4019685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67A37F7E-BCD1-49B7-B874-A7D11323BDB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9845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BitCraft</a:t>
            </a:r>
            <a:r>
              <a:rPr lang="en-US" sz="1500" dirty="0"/>
              <a:t>_</a:t>
            </a:r>
            <a:endParaRPr lang="en-IN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110B46-FEAD-856C-5B24-9A5F3250DA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23BBEF-02BF-CCFD-72EC-3E362CBC1F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81"/>
          <a:stretch>
            <a:fillRect/>
          </a:stretch>
        </p:blipFill>
        <p:spPr>
          <a:xfrm>
            <a:off x="91440" y="1112962"/>
            <a:ext cx="11938496" cy="5206005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92125A01-4B02-4609-A1A4-E209838A034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BitCraft</a:t>
            </a:r>
            <a:r>
              <a:rPr lang="en-US" sz="1500" dirty="0"/>
              <a:t>_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2257" y="1150508"/>
            <a:ext cx="4014760" cy="50261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r>
              <a:rPr lang="en-US" sz="1790" b="1" dirty="0"/>
              <a:t>1. Early Fraud Detection</a:t>
            </a:r>
            <a:endParaRPr lang="en-US" sz="1790" dirty="0"/>
          </a:p>
          <a:p>
            <a:pPr lvl="0"/>
            <a:r>
              <a:rPr lang="en-US" sz="1790" dirty="0"/>
              <a:t>Identifies suspicious transaction patterns</a:t>
            </a:r>
          </a:p>
          <a:p>
            <a:pPr lvl="0"/>
            <a:r>
              <a:rPr lang="en-US" sz="1790" dirty="0"/>
              <a:t>Detects abnormal and emerging activity</a:t>
            </a:r>
          </a:p>
          <a:p>
            <a:pPr lvl="0"/>
            <a:r>
              <a:rPr lang="en-US" sz="1790" dirty="0"/>
              <a:t>Helps uncover hidden transaction networks</a:t>
            </a:r>
          </a:p>
          <a:p>
            <a:r>
              <a:rPr lang="en-US" sz="1790" b="1" dirty="0"/>
              <a:t>2. Faster &amp; Explainable Investigation</a:t>
            </a:r>
            <a:endParaRPr lang="en-US" sz="1790" dirty="0"/>
          </a:p>
          <a:p>
            <a:pPr lvl="0"/>
            <a:r>
              <a:rPr lang="en-US" sz="1790" dirty="0"/>
              <a:t>Prioritizes high-risk transactions</a:t>
            </a:r>
          </a:p>
          <a:p>
            <a:pPr lvl="0"/>
            <a:r>
              <a:rPr lang="en-US" sz="1790" dirty="0"/>
              <a:t>Provides evidence-based, human-readable alerts</a:t>
            </a:r>
          </a:p>
          <a:p>
            <a:pPr lvl="0"/>
            <a:r>
              <a:rPr lang="en-US" sz="1790" dirty="0"/>
              <a:t>Reduces manual analysis effort</a:t>
            </a:r>
          </a:p>
          <a:p>
            <a:r>
              <a:rPr lang="en-US" sz="1790" b="1" dirty="0"/>
              <a:t>3. Secure &amp; Scalable Deployment</a:t>
            </a:r>
            <a:endParaRPr lang="en-US" sz="1790" dirty="0"/>
          </a:p>
          <a:p>
            <a:pPr lvl="0"/>
            <a:r>
              <a:rPr lang="en-US" sz="1790" dirty="0"/>
              <a:t>Fully offline for sensitive environments</a:t>
            </a:r>
          </a:p>
          <a:p>
            <a:pPr lvl="0"/>
            <a:r>
              <a:rPr lang="en-US" sz="1790" dirty="0"/>
              <a:t>Handles large transaction datasets</a:t>
            </a:r>
          </a:p>
          <a:p>
            <a:pPr lvl="0"/>
            <a:r>
              <a:rPr lang="en-US" sz="1790" dirty="0"/>
              <a:t>Modular architecture allows integration of additional data sources</a:t>
            </a:r>
            <a:endParaRPr lang="en-US" sz="800" dirty="0"/>
          </a:p>
          <a:p>
            <a:pPr lvl="0"/>
            <a:endParaRPr lang="en-US" sz="500" dirty="0"/>
          </a:p>
          <a:p>
            <a:r>
              <a:rPr lang="en-US" sz="1790" b="1" dirty="0"/>
              <a:t>Core Impact:</a:t>
            </a:r>
            <a:br>
              <a:rPr lang="en-US" sz="1790" i="1" dirty="0"/>
            </a:br>
            <a:r>
              <a:rPr lang="en-US" sz="1790" b="1" dirty="0"/>
              <a:t>Massive transaction data      prioritized, explainable investigative leads</a:t>
            </a:r>
            <a:endParaRPr lang="en-US" sz="1790" dirty="0"/>
          </a:p>
          <a:p>
            <a:pPr marR="0" lvl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79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D3A5E-8B08-3FAA-67D8-CE4996599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2" name="Picture 1" descr="Generated image 1">
            <a:extLst>
              <a:ext uri="{FF2B5EF4-FFF2-40B4-BE49-F238E27FC236}">
                <a16:creationId xmlns:a16="http://schemas.microsoft.com/office/drawing/2014/main" id="{BF36ABB6-C800-0C7F-C663-FCB3E5E790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18" r="7691"/>
          <a:stretch>
            <a:fillRect/>
          </a:stretch>
        </p:blipFill>
        <p:spPr>
          <a:xfrm>
            <a:off x="4184786" y="1095375"/>
            <a:ext cx="3730200" cy="2980967"/>
          </a:xfrm>
          <a:prstGeom prst="rect">
            <a:avLst/>
          </a:prstGeom>
        </p:spPr>
      </p:pic>
      <p:pic>
        <p:nvPicPr>
          <p:cNvPr id="4" name="Picture 3" descr="Generated image 2">
            <a:extLst>
              <a:ext uri="{FF2B5EF4-FFF2-40B4-BE49-F238E27FC236}">
                <a16:creationId xmlns:a16="http://schemas.microsoft.com/office/drawing/2014/main" id="{29F47A3A-3461-4E8B-FF9B-27C0E94CB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1880" y="1059580"/>
            <a:ext cx="3859745" cy="3028750"/>
          </a:xfrm>
          <a:prstGeom prst="rect">
            <a:avLst/>
          </a:prstGeom>
        </p:spPr>
      </p:pic>
      <p:pic>
        <p:nvPicPr>
          <p:cNvPr id="8" name="Picture 7" descr="Generated image 3">
            <a:extLst>
              <a:ext uri="{FF2B5EF4-FFF2-40B4-BE49-F238E27FC236}">
                <a16:creationId xmlns:a16="http://schemas.microsoft.com/office/drawing/2014/main" id="{D26A7460-D7D5-650F-3F00-923D25749E3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3204"/>
          <a:stretch>
            <a:fillRect/>
          </a:stretch>
        </p:blipFill>
        <p:spPr>
          <a:xfrm>
            <a:off x="4122001" y="4026218"/>
            <a:ext cx="3730200" cy="2289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A78764-53A3-BDF7-1F22-67C33E03870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-1" b="12391"/>
          <a:stretch>
            <a:fillRect/>
          </a:stretch>
        </p:blipFill>
        <p:spPr>
          <a:xfrm>
            <a:off x="8090804" y="4119547"/>
            <a:ext cx="3553187" cy="2209537"/>
          </a:xfrm>
          <a:prstGeom prst="rect">
            <a:avLst/>
          </a:prstGeom>
        </p:spPr>
      </p:pic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234A4C84-4BAE-7BCD-4FC8-99B49839A30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BitCraft</a:t>
            </a:r>
            <a:r>
              <a:rPr lang="en-US" sz="1500" dirty="0"/>
              <a:t>_</a:t>
            </a:r>
            <a:endParaRPr lang="en-IN" sz="15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0875D8A-294C-6B5E-DEDF-AE4F6E3F3C8A}"/>
              </a:ext>
            </a:extLst>
          </p:cNvPr>
          <p:cNvSpPr/>
          <p:nvPr/>
        </p:nvSpPr>
        <p:spPr>
          <a:xfrm>
            <a:off x="2738716" y="5734387"/>
            <a:ext cx="264459" cy="101638"/>
          </a:xfrm>
          <a:prstGeom prst="rightArrow">
            <a:avLst/>
          </a:prstGeom>
          <a:solidFill>
            <a:schemeClr val="tx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3F9D5-D57C-119A-8B08-654CC91E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8A4D48A-021E-E0BC-014C-1BA3352EA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51F6BADC-38DF-FE8E-6A6E-18013B302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B6D94-09BC-8B75-A905-7E3F81E05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7CB8F5-0650-9F50-A3C5-479A2802A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692323-D3C2-54FF-ABAA-9699D7D2FE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116"/>
          <a:stretch>
            <a:fillRect/>
          </a:stretch>
        </p:blipFill>
        <p:spPr>
          <a:xfrm>
            <a:off x="162064" y="1144500"/>
            <a:ext cx="11948656" cy="14587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C8056A7-8A82-B8C5-B2FD-03EEF95834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44"/>
          <a:stretch>
            <a:fillRect/>
          </a:stretch>
        </p:blipFill>
        <p:spPr>
          <a:xfrm>
            <a:off x="268225" y="2739813"/>
            <a:ext cx="7275067" cy="3463184"/>
          </a:xfrm>
          <a:prstGeom prst="rect">
            <a:avLst/>
          </a:prstGeom>
        </p:spPr>
      </p:pic>
      <p:sp>
        <p:nvSpPr>
          <p:cNvPr id="16" name="Rounded Rectangle 17427">
            <a:extLst>
              <a:ext uri="{FF2B5EF4-FFF2-40B4-BE49-F238E27FC236}">
                <a16:creationId xmlns:a16="http://schemas.microsoft.com/office/drawing/2014/main" id="{E0CD45B1-3488-44A3-0708-84A624E2C821}"/>
              </a:ext>
            </a:extLst>
          </p:cNvPr>
          <p:cNvSpPr/>
          <p:nvPr/>
        </p:nvSpPr>
        <p:spPr>
          <a:xfrm>
            <a:off x="7660640" y="3180081"/>
            <a:ext cx="4263135" cy="774569"/>
          </a:xfrm>
          <a:prstGeom prst="roundRect">
            <a:avLst>
              <a:gd name="adj" fmla="val 11805"/>
            </a:avLst>
          </a:prstGeom>
          <a:solidFill>
            <a:srgbClr val="EAF2FA"/>
          </a:solidFill>
          <a:ln w="9525">
            <a:solidFill>
              <a:srgbClr val="1F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100" b="1" i="0" dirty="0">
                <a:solidFill>
                  <a:srgbClr val="1F3864"/>
                </a:solidFill>
                <a:latin typeface="Arial"/>
              </a:rPr>
              <a:t>Air-gapped ready</a:t>
            </a:r>
          </a:p>
          <a:p>
            <a:pPr algn="l"/>
            <a:r>
              <a:rPr sz="950" b="0" i="0" dirty="0">
                <a:solidFill>
                  <a:srgbClr val="404040"/>
                </a:solidFill>
                <a:latin typeface="Arial"/>
              </a:rPr>
              <a:t>Offline bundle with every wheel, image and dataset</a:t>
            </a:r>
          </a:p>
        </p:txBody>
      </p:sp>
      <p:sp>
        <p:nvSpPr>
          <p:cNvPr id="23" name="Rounded Rectangle 17428">
            <a:extLst>
              <a:ext uri="{FF2B5EF4-FFF2-40B4-BE49-F238E27FC236}">
                <a16:creationId xmlns:a16="http://schemas.microsoft.com/office/drawing/2014/main" id="{E29CAC57-A26D-B43C-46A7-BD2FCC3BE8E4}"/>
              </a:ext>
            </a:extLst>
          </p:cNvPr>
          <p:cNvSpPr/>
          <p:nvPr/>
        </p:nvSpPr>
        <p:spPr>
          <a:xfrm>
            <a:off x="7660640" y="4106415"/>
            <a:ext cx="4263135" cy="661482"/>
          </a:xfrm>
          <a:prstGeom prst="roundRect">
            <a:avLst>
              <a:gd name="adj" fmla="val 16895"/>
            </a:avLst>
          </a:prstGeom>
          <a:solidFill>
            <a:srgbClr val="FDEFE3"/>
          </a:solidFill>
          <a:ln w="952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100" b="1" i="0" dirty="0">
                <a:solidFill>
                  <a:srgbClr val="1F3864"/>
                </a:solidFill>
                <a:latin typeface="Arial"/>
              </a:rPr>
              <a:t>Honest by design</a:t>
            </a:r>
          </a:p>
          <a:p>
            <a:pPr algn="l"/>
            <a:r>
              <a:rPr sz="950" b="0" i="0" dirty="0">
                <a:solidFill>
                  <a:srgbClr val="404040"/>
                </a:solidFill>
                <a:latin typeface="Arial"/>
              </a:rPr>
              <a:t>Missing network evidence is n/a, never low risk</a:t>
            </a:r>
          </a:p>
        </p:txBody>
      </p:sp>
      <p:sp>
        <p:nvSpPr>
          <p:cNvPr id="26" name="Rounded Rectangle 17429">
            <a:extLst>
              <a:ext uri="{FF2B5EF4-FFF2-40B4-BE49-F238E27FC236}">
                <a16:creationId xmlns:a16="http://schemas.microsoft.com/office/drawing/2014/main" id="{36632138-58F8-C714-EF48-70BAC8435A26}"/>
              </a:ext>
            </a:extLst>
          </p:cNvPr>
          <p:cNvSpPr/>
          <p:nvPr/>
        </p:nvSpPr>
        <p:spPr>
          <a:xfrm>
            <a:off x="7660640" y="4919661"/>
            <a:ext cx="4263135" cy="688342"/>
          </a:xfrm>
          <a:prstGeom prst="roundRect">
            <a:avLst>
              <a:gd name="adj" fmla="val 11808"/>
            </a:avLst>
          </a:prstGeom>
          <a:solidFill>
            <a:srgbClr val="E4F3EC"/>
          </a:solidFill>
          <a:ln w="9525">
            <a:solidFill>
              <a:srgbClr val="1E7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100" b="1" i="0" dirty="0">
                <a:solidFill>
                  <a:srgbClr val="1F3864"/>
                </a:solidFill>
                <a:latin typeface="Arial"/>
              </a:rPr>
              <a:t>Deploy in one command</a:t>
            </a:r>
          </a:p>
          <a:p>
            <a:pPr algn="l"/>
            <a:r>
              <a:rPr sz="950" b="0" i="0" dirty="0" err="1">
                <a:solidFill>
                  <a:srgbClr val="404040"/>
                </a:solidFill>
                <a:latin typeface="Arial"/>
              </a:rPr>
              <a:t>pipx</a:t>
            </a:r>
            <a:r>
              <a:rPr sz="950" b="0" i="0" dirty="0">
                <a:solidFill>
                  <a:srgbClr val="404040"/>
                </a:solidFill>
                <a:latin typeface="Arial"/>
              </a:rPr>
              <a:t>, pip or Docker; terminal-first for analysts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F4B92C-220E-DE4D-FB4E-88DEE4C9C4D2}"/>
              </a:ext>
            </a:extLst>
          </p:cNvPr>
          <p:cNvSpPr txBox="1"/>
          <p:nvPr/>
        </p:nvSpPr>
        <p:spPr>
          <a:xfrm>
            <a:off x="7660640" y="2782669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F3864"/>
                </a:solidFill>
                <a:latin typeface="Arial"/>
              </a:rPr>
              <a:t>What sets it apart</a:t>
            </a:r>
          </a:p>
          <a:p>
            <a:endParaRPr lang="en-IN" dirty="0"/>
          </a:p>
        </p:txBody>
      </p:sp>
      <p:sp>
        <p:nvSpPr>
          <p:cNvPr id="7" name="Rounded Rectangle 17430">
            <a:extLst>
              <a:ext uri="{FF2B5EF4-FFF2-40B4-BE49-F238E27FC236}">
                <a16:creationId xmlns:a16="http://schemas.microsoft.com/office/drawing/2014/main" id="{109D0C91-2235-2DC2-2B6C-7305335F2FD4}"/>
              </a:ext>
            </a:extLst>
          </p:cNvPr>
          <p:cNvSpPr/>
          <p:nvPr/>
        </p:nvSpPr>
        <p:spPr>
          <a:xfrm>
            <a:off x="7660640" y="5798420"/>
            <a:ext cx="4263135" cy="404577"/>
          </a:xfrm>
          <a:prstGeom prst="roundRect">
            <a:avLst>
              <a:gd name="adj" fmla="val 5466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l"/>
            <a:r>
              <a:rPr sz="1050" b="1" i="0" dirty="0">
                <a:solidFill>
                  <a:srgbClr val="FFFFFF"/>
                </a:solidFill>
                <a:latin typeface="Arial"/>
              </a:rPr>
              <a:t>Core impact: </a:t>
            </a:r>
            <a:r>
              <a:rPr sz="1050" b="0" i="0" dirty="0">
                <a:solidFill>
                  <a:srgbClr val="FFFFFF"/>
                </a:solidFill>
                <a:latin typeface="Arial"/>
              </a:rPr>
              <a:t>massive transaction data → prioritized, explainable investigative leads</a:t>
            </a:r>
          </a:p>
        </p:txBody>
      </p:sp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EFC53D25-9BF0-07A5-896A-9CB973C7E3F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BitCraft</a:t>
            </a:r>
            <a:r>
              <a:rPr lang="en-US" sz="1500" dirty="0"/>
              <a:t>_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514500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64589" y="1140200"/>
            <a:ext cx="6258001" cy="524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[1]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Weber M. et al. (2019). Anti-Money Laundering in Bitcoin: Experimenting with Graph Convolutional Networks for Financial Forensics, introduces the Elliptic dataset. 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arXiv:1908.02591</a:t>
            </a:r>
          </a:p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[2]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Elliptic Data Set - labelled Bitcoin transaction graph. 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kaggle.com/datasets/</a:t>
            </a:r>
            <a:r>
              <a:rPr lang="en-US" sz="1400" b="1" dirty="0" err="1">
                <a:solidFill>
                  <a:srgbClr val="0070C0"/>
                </a:solidFill>
                <a:latin typeface="Arial"/>
              </a:rPr>
              <a:t>ellipticco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/elliptic-data-set</a:t>
            </a:r>
          </a:p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[3]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Liu F.T., Ting K.M., Zhou Z.-H. (2008). Isolation Forest. IEEE ICDM. 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doi:10.1109/ICDM.2008.17</a:t>
            </a:r>
          </a:p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[4]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Blondel V.D. et al. (2008). Fast unfolding of communities in large networks. J. Stat. Mech. 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arXiv:0803.0476</a:t>
            </a:r>
          </a:p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[5]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Lundberg S.M., Lee S.-I. (2017). A Unified Approach to Interpreting Model Predictions (SHAP). </a:t>
            </a:r>
            <a:r>
              <a:rPr lang="en-US" sz="1400" dirty="0" err="1">
                <a:solidFill>
                  <a:srgbClr val="1F2937"/>
                </a:solidFill>
                <a:latin typeface="Arial"/>
              </a:rPr>
              <a:t>NeurIPS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. 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arXiv:1705.07874</a:t>
            </a:r>
          </a:p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[6]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Lundberg S.M. et al. (2020). Explainable AI for Trees: From Local Explanations to Global Understanding (</a:t>
            </a:r>
            <a:r>
              <a:rPr lang="en-US" sz="1400" dirty="0" err="1">
                <a:solidFill>
                  <a:srgbClr val="1F2937"/>
                </a:solidFill>
                <a:latin typeface="Arial"/>
              </a:rPr>
              <a:t>TreeExplainer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). 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arXiv:1905.04610</a:t>
            </a:r>
          </a:p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[7]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Hamilton W., Ying R., Leskovec J. (2017). Inductive Representation Learning on Large Graphs (</a:t>
            </a:r>
            <a:r>
              <a:rPr lang="en-US" sz="1400" dirty="0" err="1">
                <a:solidFill>
                  <a:srgbClr val="1F2937"/>
                </a:solidFill>
                <a:latin typeface="Arial"/>
              </a:rPr>
              <a:t>GraphSAGE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). </a:t>
            </a:r>
            <a:r>
              <a:rPr lang="en-US" sz="1400" dirty="0" err="1">
                <a:solidFill>
                  <a:srgbClr val="1F2937"/>
                </a:solidFill>
                <a:latin typeface="Arial"/>
              </a:rPr>
              <a:t>NeurIPS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. 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arXiv:1706.02216</a:t>
            </a:r>
          </a:p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[8]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Nakamoto S. (2008). Bitcoin: A Peer-to-Peer Electronic Cash System. </a:t>
            </a:r>
            <a:r>
              <a:rPr lang="en-US" sz="1400" b="1" dirty="0">
                <a:solidFill>
                  <a:srgbClr val="0070C0"/>
                </a:solidFill>
                <a:latin typeface="Arial"/>
              </a:rPr>
              <a:t>bitcoin.org/bitcoin.pdf</a:t>
            </a:r>
          </a:p>
          <a:p>
            <a:pPr>
              <a:spcAft>
                <a:spcPts val="800"/>
              </a:spcAft>
            </a:pPr>
            <a:r>
              <a:rPr lang="en-US" sz="1400" b="1" dirty="0">
                <a:solidFill>
                  <a:srgbClr val="12284C"/>
                </a:solidFill>
                <a:latin typeface="Arial"/>
              </a:rPr>
              <a:t>[9] 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Tooling &amp; standards: scikit-learn (</a:t>
            </a:r>
            <a:r>
              <a:rPr lang="en-US" sz="1400" dirty="0" err="1">
                <a:solidFill>
                  <a:srgbClr val="1F2937"/>
                </a:solidFill>
                <a:latin typeface="Arial"/>
              </a:rPr>
              <a:t>IsolationForest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), </a:t>
            </a:r>
            <a:r>
              <a:rPr lang="en-US" sz="1400" dirty="0" err="1">
                <a:solidFill>
                  <a:srgbClr val="1F2937"/>
                </a:solidFill>
                <a:latin typeface="Arial"/>
              </a:rPr>
              <a:t>NetworkX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, python-</a:t>
            </a:r>
            <a:r>
              <a:rPr lang="en-US" sz="1400" dirty="0" err="1">
                <a:solidFill>
                  <a:srgbClr val="1F2937"/>
                </a:solidFill>
                <a:latin typeface="Arial"/>
              </a:rPr>
              <a:t>louvain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, </a:t>
            </a:r>
            <a:r>
              <a:rPr lang="en-US" sz="1400" dirty="0" err="1">
                <a:solidFill>
                  <a:srgbClr val="1F2937"/>
                </a:solidFill>
                <a:latin typeface="Arial"/>
              </a:rPr>
              <a:t>MaxMind</a:t>
            </a:r>
            <a:r>
              <a:rPr lang="en-US" sz="1400" dirty="0">
                <a:solidFill>
                  <a:srgbClr val="1F2937"/>
                </a:solidFill>
                <a:latin typeface="Arial"/>
              </a:rPr>
              <a:t> GeoLite2; IETF RFC 5737 (documentation IPs used in the synthetic network layer).</a:t>
            </a:r>
          </a:p>
          <a:p>
            <a:pPr>
              <a:spcAft>
                <a:spcPts val="800"/>
              </a:spcAft>
            </a:pPr>
            <a:r>
              <a:rPr lang="en-US" sz="1400" dirty="0">
                <a:solidFill>
                  <a:srgbClr val="1F2937"/>
                </a:solidFill>
                <a:latin typeface="Arial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DB2D6E-A248-A2DE-753C-70FDCE0B88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AD9DF6-88F3-C051-54CC-B9264E984562}"/>
              </a:ext>
            </a:extLst>
          </p:cNvPr>
          <p:cNvSpPr txBox="1"/>
          <p:nvPr/>
        </p:nvSpPr>
        <p:spPr>
          <a:xfrm>
            <a:off x="6522590" y="3978853"/>
            <a:ext cx="485123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i="0" dirty="0">
                <a:solidFill>
                  <a:srgbClr val="0070C0"/>
                </a:solidFill>
                <a:latin typeface="Arial"/>
              </a:rPr>
              <a:t>Dataset provenance – bitcraft_consolidated_v1 (seed 42)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74C60A-3B44-2781-D6C4-F2C516D7C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627" y="1443319"/>
            <a:ext cx="5462309" cy="18933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72FC1E-C9F3-D28C-D436-FFA5D3026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4660" y="1137405"/>
            <a:ext cx="5328366" cy="2987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38A354-3B14-B90B-7D14-3A6DE437D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687" y="3366167"/>
            <a:ext cx="5322269" cy="7093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BF59C28-8DD1-6FA9-5DDA-C278E30769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39" y="3291828"/>
            <a:ext cx="487722" cy="27434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1D9D423-6318-B019-2B9E-37E1EB80A4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39" y="3291828"/>
            <a:ext cx="487722" cy="2743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57928DF-EB5D-90F2-3241-7C14F618E5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7627" y="4264889"/>
            <a:ext cx="5462310" cy="2029801"/>
          </a:xfrm>
          <a:prstGeom prst="rect">
            <a:avLst/>
          </a:prstGeom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A6A7F7D4-B928-45C4-03B2-17F9F9E18E9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BitCraft</a:t>
            </a:r>
            <a:r>
              <a:rPr lang="en-US" sz="1500" dirty="0"/>
              <a:t>_</a:t>
            </a:r>
            <a:endParaRPr lang="en-IN" sz="15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8506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59432" y="1605014"/>
            <a:ext cx="12073136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8178</TotalTime>
  <Words>816</Words>
  <Application>Microsoft Office PowerPoint</Application>
  <PresentationFormat>Widescreen</PresentationFormat>
  <Paragraphs>90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Shreya Mishra</cp:lastModifiedBy>
  <cp:revision>158</cp:revision>
  <dcterms:created xsi:type="dcterms:W3CDTF">2013-12-12T18:46:50Z</dcterms:created>
  <dcterms:modified xsi:type="dcterms:W3CDTF">2026-10-03T21:23:44Z</dcterms:modified>
  <cp:category/>
</cp:coreProperties>
</file>